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1675"/>
  <p:notesSz cx="6858000" cy="12191675"/>
  <p:embeddedFontLs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33410C-0C8B-4722-86A7-8C9C68F7DB91}">
  <a:tblStyle styleId="{AF33410C-0C8B-4722-86A7-8C9C68F7DB9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a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d46cd8d71_1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ed46cd8d71_1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d46cd8d71_1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d46cd8d71_1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ROME">
  <p:cSld name="CHROME">
    <p:bg>
      <p:bgPr>
        <a:solidFill>
          <a:srgbClr val="1E1E2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tba_logo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4472" y="310896"/>
            <a:ext cx="1243584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502920" y="6373368"/>
            <a:ext cx="11201400" cy="10973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502920" y="641908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DC8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Grupo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777240" y="19659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5200"/>
              <a:buFont typeface="Lato"/>
              <a:buNone/>
            </a:pPr>
            <a:r>
              <a:rPr b="1" i="0" lang="en-US" sz="52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Autoencoders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04672" y="290779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Trabajo Práctico N°5  ·  Ejercicio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22960" y="397764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AC2DE"/>
              </a:buClr>
              <a:buSzPts val="1700"/>
              <a:buFont typeface="Lato"/>
              <a:buNone/>
            </a:pPr>
            <a:r>
              <a:rPr b="0" i="0" lang="en-US" sz="1700" u="none" cap="none" strike="noStrike">
                <a:solidFill>
                  <a:srgbClr val="BAC2DE"/>
                </a:solidFill>
                <a:latin typeface="Lato"/>
                <a:ea typeface="Lato"/>
                <a:cs typeface="Lato"/>
                <a:sym typeface="Lato"/>
              </a:rPr>
              <a:t>Ardenghi, Filipo (64306)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AC2DE"/>
              </a:buClr>
              <a:buSzPts val="1700"/>
              <a:buFont typeface="Lato"/>
              <a:buNone/>
            </a:pPr>
            <a:r>
              <a:rPr b="0" i="0" lang="en-US" sz="1700" u="none" cap="none" strike="noStrike">
                <a:solidFill>
                  <a:srgbClr val="BAC2DE"/>
                </a:solidFill>
                <a:latin typeface="Lato"/>
                <a:ea typeface="Lato"/>
                <a:cs typeface="Lato"/>
                <a:sym typeface="Lato"/>
              </a:rPr>
              <a:t>Barnatán, Martín Alejandro (64463)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AC2DE"/>
              </a:buClr>
              <a:buSzPts val="1700"/>
              <a:buFont typeface="Lato"/>
              <a:buNone/>
            </a:pPr>
            <a:r>
              <a:rPr b="0" i="0" lang="en-US" sz="1700" u="none" cap="none" strike="noStrike">
                <a:solidFill>
                  <a:srgbClr val="BAC2DE"/>
                </a:solidFill>
                <a:latin typeface="Lato"/>
                <a:ea typeface="Lato"/>
                <a:cs typeface="Lato"/>
                <a:sym typeface="Lato"/>
              </a:rPr>
              <a:t>Pedemonte Berthoud, Ignacio (64908)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AC2DE"/>
              </a:buClr>
              <a:buSzPts val="1700"/>
              <a:buFont typeface="Lato"/>
              <a:buNone/>
            </a:pPr>
            <a:r>
              <a:rPr b="0" i="0" lang="en-US" sz="1700" u="none" cap="none" strike="noStrike">
                <a:solidFill>
                  <a:srgbClr val="BAC2DE"/>
                </a:solidFill>
                <a:latin typeface="Lato"/>
                <a:ea typeface="Lato"/>
                <a:cs typeface="Lato"/>
                <a:sym typeface="Lato"/>
              </a:rPr>
              <a:t>Testoni, Ezequiel (64709)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5623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DC8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1Q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Tabla de Contenidos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143000" y="18745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2011680" y="1911096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650"/>
              <a:buFont typeface="Lato"/>
              <a:buNone/>
            </a:pPr>
            <a:r>
              <a:rPr b="0" i="0" lang="en-US" sz="16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Problema y Dataset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446520" y="18745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7315200" y="1911096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650"/>
              <a:buFont typeface="Lato"/>
              <a:buNone/>
            </a:pPr>
            <a:r>
              <a:rPr b="0" i="0" lang="en-US" sz="16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Arquitectura y Entrenamiento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1143000" y="31546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2011680" y="3191256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650"/>
              <a:buFont typeface="Lato"/>
              <a:buNone/>
            </a:pPr>
            <a:r>
              <a:rPr b="0" i="0" lang="en-US" sz="16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Búsqueda de Configuraciones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446520" y="31546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7315200" y="3191256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650"/>
              <a:buFont typeface="Lato"/>
              <a:buNone/>
            </a:pPr>
            <a:r>
              <a:rPr b="0" i="0" lang="en-US" sz="16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Análisis de Hiperparámetros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143000" y="443484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2011680" y="4471416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650"/>
              <a:buFont typeface="Lato"/>
              <a:buNone/>
            </a:pPr>
            <a:r>
              <a:rPr b="0" i="0" lang="en-US" sz="16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Espacio Latente y Generación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446520" y="443484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7315200" y="4471416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650"/>
              <a:buFont typeface="Lato"/>
              <a:buNone/>
            </a:pPr>
            <a:r>
              <a:rPr b="0" i="0" lang="en-US" sz="16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Denoising Autoencoder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143000" y="571500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2011680" y="5751576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650"/>
              <a:buFont typeface="Lato"/>
              <a:buNone/>
            </a:pPr>
            <a:r>
              <a:rPr b="0" i="0" lang="en-US" sz="16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Conclusiones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777240" y="260604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777240" y="3310128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Problema y Dataset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Dataset: font.h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01 · Problema y Dataset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640080" y="1783080"/>
            <a:ext cx="59893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550"/>
              <a:buFont typeface="Lato"/>
              <a:buChar char="•"/>
            </a:pPr>
            <a:r>
              <a:rPr b="0" i="0" lang="en-US" sz="15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32 caracteres ASCII</a:t>
            </a:r>
            <a:r>
              <a:rPr lang="en-US" sz="1550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DD6F4"/>
              </a:buClr>
              <a:buSzPts val="1550"/>
              <a:buFont typeface="Lato"/>
              <a:buChar char="•"/>
            </a:pPr>
            <a:r>
              <a:rPr b="0" i="0" lang="en-US" sz="15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Cada </a:t>
            </a:r>
            <a:r>
              <a:rPr lang="en-US" sz="1550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uno</a:t>
            </a:r>
            <a:r>
              <a:rPr b="0" i="0" lang="en-US" sz="15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 es una matriz 5×7 = 35 píxeles binarios.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DD6F4"/>
              </a:buClr>
              <a:buSzPts val="1550"/>
              <a:buFont typeface="Lato"/>
              <a:buChar char="•"/>
            </a:pPr>
            <a:r>
              <a:rPr b="0" i="0" lang="en-US" sz="15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Entrada y salida del autoencoder: un vector de 35 dimensiones.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6858000" y="1783080"/>
            <a:ext cx="4663440" cy="3063240"/>
          </a:xfrm>
          <a:prstGeom prst="roundRect">
            <a:avLst>
              <a:gd fmla="val 2388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7086600" y="193852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Objetivo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7086600" y="2331720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550"/>
              <a:buFont typeface="Lato"/>
              <a:buNone/>
            </a:pPr>
            <a:r>
              <a:rPr b="0" i="0" lang="en-US" sz="15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Reconstruir los 32 patrones con </a:t>
            </a:r>
            <a:r>
              <a:rPr b="1" i="0" lang="en-US" sz="1550" u="none" cap="none" strike="noStrike">
                <a:solidFill>
                  <a:srgbClr val="A6E3A1"/>
                </a:solidFill>
                <a:latin typeface="Lato"/>
                <a:ea typeface="Lato"/>
                <a:cs typeface="Lato"/>
                <a:sym typeface="Lato"/>
              </a:rPr>
              <a:t>≤ 1 píxel incorrecto</a:t>
            </a:r>
            <a:r>
              <a:rPr b="0" i="0" lang="en-US" sz="15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, comprimiendo cada glifo a un espacio latente de </a:t>
            </a:r>
            <a:r>
              <a:rPr b="1" i="0" lang="en-US" sz="1550" u="none" cap="none" strike="noStrike">
                <a:solidFill>
                  <a:srgbClr val="A6E3A1"/>
                </a:solidFill>
                <a:latin typeface="Lato"/>
                <a:ea typeface="Lato"/>
                <a:cs typeface="Lato"/>
                <a:sym typeface="Lato"/>
              </a:rPr>
              <a:t>2 dimensiones</a:t>
            </a:r>
            <a:r>
              <a:rPr b="0" i="0" lang="en-US" sz="15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7086600" y="3794760"/>
            <a:ext cx="1234440" cy="868680"/>
          </a:xfrm>
          <a:prstGeom prst="roundRect">
            <a:avLst>
              <a:gd fmla="val 6316" name="adj"/>
            </a:avLst>
          </a:prstGeom>
          <a:solidFill>
            <a:srgbClr val="4547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7086600" y="385876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35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7086600" y="43342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DC8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px entrada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8503920" y="3794760"/>
            <a:ext cx="1234440" cy="868680"/>
          </a:xfrm>
          <a:prstGeom prst="roundRect">
            <a:avLst>
              <a:gd fmla="val 6316" name="adj"/>
            </a:avLst>
          </a:prstGeom>
          <a:solidFill>
            <a:srgbClr val="4547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8503920" y="385876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8503920" y="43342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DC8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latente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9921240" y="3794760"/>
            <a:ext cx="1234440" cy="868680"/>
          </a:xfrm>
          <a:prstGeom prst="roundRect">
            <a:avLst>
              <a:gd fmla="val 6316" name="adj"/>
            </a:avLst>
          </a:prstGeom>
          <a:solidFill>
            <a:srgbClr val="4547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9921240" y="385876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35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9921240" y="43342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DC8"/>
              </a:buClr>
              <a:buSzPts val="1000"/>
              <a:buFont typeface="Lato"/>
              <a:buNone/>
            </a:pPr>
            <a:r>
              <a:rPr b="0" i="0" lang="en-US" sz="10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px salida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>
            <a:off x="777240" y="260604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77240" y="3310128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Arquitectura y Entrenamiento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566928" y="365760"/>
            <a:ext cx="9784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Salida sigmoide para píxeles binarios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603504" y="1097280"/>
            <a:ext cx="914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02 · Arquitectura y Entrenamiento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640075" y="2114769"/>
            <a:ext cx="103776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900"/>
              <a:buFont typeface="Lato"/>
              <a:buChar char="•"/>
            </a:pPr>
            <a:r>
              <a:rPr b="0" i="0" lang="en-US" sz="19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Los glifos son binarios: cada uno de los 35 píxeles vale 0 o 1.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1778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DD6F4"/>
              </a:buClr>
              <a:buSzPts val="1900"/>
              <a:buFont typeface="Lato"/>
              <a:buChar char="•"/>
            </a:pPr>
            <a:r>
              <a:rPr b="0" i="0" lang="en-US" sz="19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sigmoid acota la salida a (0,1): se lee como probabilidad de píxel encendido y encaja con el rango del target.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1778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DD6F4"/>
              </a:buClr>
              <a:buSzPts val="1900"/>
              <a:buFont typeface="Lato"/>
              <a:buChar char="•"/>
            </a:pPr>
            <a:r>
              <a:rPr b="0" i="0" lang="en-US" sz="19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linear no acota (puede dar &lt; 0 o &gt; 1, sin sentido probabilístico)</a:t>
            </a:r>
            <a:endParaRPr sz="1900">
              <a:solidFill>
                <a:srgbClr val="CDD6F4"/>
              </a:solidFill>
              <a:latin typeface="Lato"/>
              <a:ea typeface="Lato"/>
              <a:cs typeface="Lato"/>
              <a:sym typeface="Lato"/>
            </a:endParaRPr>
          </a:p>
          <a:p>
            <a:pPr indent="-203200" lvl="0" marL="1778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DD6F4"/>
              </a:buClr>
              <a:buSzPts val="1900"/>
              <a:buFont typeface="Lato"/>
              <a:buChar char="•"/>
            </a:pPr>
            <a:r>
              <a:rPr b="0" i="0" lang="en-US" sz="19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tanh está centrada en (-1,1) y pediría reescalar los targets.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 txBox="1"/>
          <p:nvPr>
            <p:ph idx="4294967295" type="sldNum"/>
          </p:nvPr>
        </p:nvSpPr>
        <p:spPr>
          <a:xfrm>
            <a:off x="11475720" y="6419088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/>
          <p:nvPr/>
        </p:nvSpPr>
        <p:spPr>
          <a:xfrm>
            <a:off x="566928" y="365760"/>
            <a:ext cx="9784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lang="en-US" sz="3100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Función de p</a:t>
            </a: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érdida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603504" y="1097280"/>
            <a:ext cx="914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02 · Arquitectura y Entrenamiento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eqHeading"/>
          <p:cNvSpPr/>
          <p:nvPr/>
        </p:nvSpPr>
        <p:spPr>
          <a:xfrm>
            <a:off x="640080" y="1783080"/>
            <a:ext cx="6300000" cy="400000"/>
          </a:xfrm>
          <a:prstGeom prst="rect">
            <a:avLst/>
          </a:prstGeom>
          <a:noFill/>
          <a:ln>
            <a:noFill/>
          </a:ln>
        </p:spPr>
        <p:txBody>
          <a:bodyPr anchor="ctr" wrap="square" rtlCol="0"/>
          <a:lstStyle/>
          <a:p>
            <a:pPr indent="0" marL="0" algn="l">
              <a:buNone/>
            </a:pPr>
            <a:r>
              <a:rPr b="1" lang="es-ES" sz="1350">
                <a:solidFill>
                  <a:srgbClr val="F9E2AF"/>
                </a:solidFill>
                <a:latin typeface="Lato"/>
                <a:ea typeface="Lato"/>
                <a:cs typeface="Lato"/>
              </a:rPr>
              <a:t>Gradiente del error respecto a z (salida sigmoide)</a:t>
            </a:r>
          </a:p>
        </p:txBody>
      </p:sp>
      <p:sp>
        <p:nvSpPr>
          <p:cNvPr id="203" name="card203"/>
          <p:cNvSpPr/>
          <p:nvPr/>
        </p:nvSpPr>
        <p:spPr>
          <a:xfrm>
            <a:off x="640080" y="2260000"/>
            <a:ext cx="6300000" cy="2160000"/>
          </a:xfrm>
          <a:prstGeom prst="roundRect">
            <a:avLst>
              <a:gd name="adj" fmla="val 2222"/>
            </a:avLst>
          </a:prstGeom>
          <a:solidFill>
            <a:srgbClr val="313244"/>
          </a:solidFill>
          <a:ln w="12700">
            <a:solidFill>
              <a:srgbClr val="F38BA8"/>
            </a:solidFill>
          </a:ln>
        </p:spPr>
      </p:sp>
      <p:sp>
        <p:nvSpPr>
          <p:cNvPr id="204" name="mseLabel"/>
          <p:cNvSpPr/>
          <p:nvPr/>
        </p:nvSpPr>
        <p:spPr>
          <a:xfrm>
            <a:off x="820000" y="2330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anchor="ctr" wrap="square" rtlCol="0"/>
          <a:lstStyle/>
          <a:p>
            <a:pPr indent="0" marL="0" algn="l">
              <a:buNone/>
            </a:pPr>
            <a:r>
              <a:rPr b="1" lang="es-ES" sz="1450">
                <a:solidFill>
                  <a:srgbClr val="F38BA8"/>
                </a:solidFill>
                <a:latin typeface="Lato"/>
                <a:ea typeface="Lato"/>
                <a:cs typeface="Lato"/>
              </a:rPr>
              <a:t>MSE + sigmoide</a:t>
            </a:r>
          </a:p>
        </p:txBody>
      </p:sp>
      <p:pic>
        <p:nvPicPr>
          <p:cNvPr id="200" name="eqMSEgr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800" y="2700000"/>
            <a:ext cx="2518560" cy="540000"/>
          </a:xfrm>
          <a:prstGeom prst="rect">
            <a:avLst/>
          </a:prstGeom>
        </p:spPr>
      </p:pic>
      <p:pic>
        <p:nvPicPr>
          <p:cNvPr id="209" name="eqSigmaDeri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2650" y="3320000"/>
            <a:ext cx="2734860" cy="380000"/>
          </a:xfrm>
          <a:prstGeom prst="rect">
            <a:avLst/>
          </a:prstGeom>
        </p:spPr>
      </p:pic>
      <p:sp>
        <p:nvSpPr>
          <p:cNvPr id="205" name="mseNote"/>
          <p:cNvSpPr/>
          <p:nvPr/>
        </p:nvSpPr>
        <p:spPr>
          <a:xfrm>
            <a:off x="820000" y="3870000"/>
            <a:ext cx="5500000" cy="340000"/>
          </a:xfrm>
          <a:prstGeom prst="rect">
            <a:avLst/>
          </a:prstGeom>
          <a:noFill/>
          <a:ln>
            <a:noFill/>
          </a:ln>
        </p:spPr>
        <p:txBody>
          <a:bodyPr anchor="ctr" wrap="square" rtlCol="0"/>
          <a:lstStyle/>
          <a:p>
            <a:pPr indent="0" marL="0" algn="l">
              <a:buNone/>
            </a:pPr>
            <a:r>
              <a:rPr b="0" lang="es-ES" sz="1100">
                <a:solidFill>
                  <a:srgbClr val="A6ADC8"/>
                </a:solidFill>
                <a:latin typeface="Lato"/>
                <a:ea typeface="Lato"/>
                <a:cs typeface="Lato"/>
              </a:rPr>
              <a:t>Se anula cuando la salida satura (tiende a 0 o 1): el gradiente desaparece.</a:t>
            </a:r>
          </a:p>
        </p:txBody>
      </p:sp>
      <p:sp>
        <p:nvSpPr>
          <p:cNvPr id="206" name="card206"/>
          <p:cNvSpPr/>
          <p:nvPr/>
        </p:nvSpPr>
        <p:spPr>
          <a:xfrm>
            <a:off x="640080" y="4560000"/>
            <a:ext cx="6300000" cy="1420000"/>
          </a:xfrm>
          <a:prstGeom prst="roundRect">
            <a:avLst>
              <a:gd name="adj" fmla="val 2222"/>
            </a:avLst>
          </a:prstGeom>
          <a:solidFill>
            <a:srgbClr val="313244"/>
          </a:solidFill>
          <a:ln w="12700">
            <a:solidFill>
              <a:srgbClr val="A6E3A1"/>
            </a:solidFill>
          </a:ln>
        </p:spPr>
      </p:sp>
      <p:sp>
        <p:nvSpPr>
          <p:cNvPr id="207" name="bceLabel"/>
          <p:cNvSpPr/>
          <p:nvPr/>
        </p:nvSpPr>
        <p:spPr>
          <a:xfrm>
            <a:off x="820000" y="4630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anchor="ctr" wrap="square" rtlCol="0"/>
          <a:lstStyle/>
          <a:p>
            <a:pPr indent="0" marL="0" algn="l">
              <a:buNone/>
            </a:pPr>
            <a:r>
              <a:rPr b="1" lang="es-ES" sz="1450">
                <a:solidFill>
                  <a:srgbClr val="A6E3A1"/>
                </a:solidFill>
                <a:latin typeface="Lato"/>
                <a:ea typeface="Lato"/>
                <a:cs typeface="Lato"/>
              </a:rPr>
              <a:t>BCE + sigmoide</a:t>
            </a:r>
          </a:p>
        </p:txBody>
      </p:sp>
      <p:pic>
        <p:nvPicPr>
          <p:cNvPr id="201" name="eqBCEgr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920" y="4960000"/>
            <a:ext cx="1516320" cy="540000"/>
          </a:xfrm>
          <a:prstGeom prst="rect">
            <a:avLst/>
          </a:prstGeom>
        </p:spPr>
      </p:pic>
      <p:sp>
        <p:nvSpPr>
          <p:cNvPr id="208" name="bceNote"/>
          <p:cNvSpPr/>
          <p:nvPr/>
        </p:nvSpPr>
        <p:spPr>
          <a:xfrm>
            <a:off x="820000" y="5560000"/>
            <a:ext cx="5500000" cy="340000"/>
          </a:xfrm>
          <a:prstGeom prst="rect">
            <a:avLst/>
          </a:prstGeom>
          <a:noFill/>
          <a:ln>
            <a:noFill/>
          </a:ln>
        </p:spPr>
        <p:txBody>
          <a:bodyPr anchor="ctr" wrap="square" rtlCol="0"/>
          <a:lstStyle/>
          <a:p>
            <a:pPr indent="0" marL="0" algn="l">
              <a:buNone/>
            </a:pPr>
            <a:r>
              <a:rPr b="0" lang="es-ES" sz="1100">
                <a:solidFill>
                  <a:srgbClr val="A6ADC8"/>
                </a:solidFill>
                <a:latin typeface="Lato"/>
                <a:ea typeface="Lato"/>
                <a:cs typeface="Lato"/>
              </a:rPr>
              <a:t>No hay factor que se anule: corrige aunque la neurona esté saturada.</a:t>
            </a:r>
          </a:p>
        </p:txBody>
      </p:sp>
      <p:sp>
        <p:nvSpPr>
          <p:cNvPr id="102" name="Google Shape;102;p10"/>
          <p:cNvSpPr/>
          <p:nvPr/>
        </p:nvSpPr>
        <p:spPr>
          <a:xfrm>
            <a:off x="7315200" y="1920240"/>
            <a:ext cx="4206300" cy="2880300"/>
          </a:xfrm>
          <a:prstGeom prst="roundRect">
            <a:avLst>
              <a:gd fmla="val 2222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7498080" y="205740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350"/>
              <a:buFont typeface="Lato"/>
              <a:buNone/>
            </a:pPr>
            <a:r>
              <a:rPr b="1" i="0" lang="en-US" sz="13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MSE vs BCE · misma red 35-20-2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7498080" y="2395728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DC8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mejor max_pixel_error · restarts ≤1px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7498080" y="2788920"/>
            <a:ext cx="3840600" cy="777300"/>
          </a:xfrm>
          <a:prstGeom prst="roundRect">
            <a:avLst>
              <a:gd fmla="val 5882" name="adj"/>
            </a:avLst>
          </a:prstGeom>
          <a:solidFill>
            <a:srgbClr val="4547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7635240" y="2788920"/>
            <a:ext cx="2194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MSE · 0/12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9601200" y="2788920"/>
            <a:ext cx="164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8BA8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F38BA8"/>
                </a:solidFill>
                <a:latin typeface="Lato"/>
                <a:ea typeface="Lato"/>
                <a:cs typeface="Lato"/>
                <a:sym typeface="Lato"/>
              </a:rPr>
              <a:t>10 px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7498080" y="3703320"/>
            <a:ext cx="3840600" cy="777300"/>
          </a:xfrm>
          <a:prstGeom prst="roundRect">
            <a:avLst>
              <a:gd fmla="val 5882" name="adj"/>
            </a:avLst>
          </a:prstGeom>
          <a:solidFill>
            <a:srgbClr val="4547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7635240" y="3703320"/>
            <a:ext cx="2194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BCE · 11/12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9601200" y="3703320"/>
            <a:ext cx="164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E3A1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A6E3A1"/>
                </a:solidFill>
                <a:latin typeface="Lato"/>
                <a:ea typeface="Lato"/>
                <a:cs typeface="Lato"/>
                <a:sym typeface="Lato"/>
              </a:rPr>
              <a:t>0 px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 txBox="1"/>
          <p:nvPr>
            <p:ph idx="4294967295" type="sldNum"/>
          </p:nvPr>
        </p:nvSpPr>
        <p:spPr>
          <a:xfrm>
            <a:off x="11475720" y="6419088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Arquitectura </a:t>
            </a:r>
            <a:r>
              <a:rPr b="1" lang="en-US" sz="3100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inicial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02 · Arquitectura y Entrenamiento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1359256" y="1911096"/>
            <a:ext cx="841248" cy="1572768"/>
          </a:xfrm>
          <a:prstGeom prst="roundRect">
            <a:avLst>
              <a:gd fmla="val 4348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/>
          <p:cNvSpPr/>
          <p:nvPr/>
        </p:nvSpPr>
        <p:spPr>
          <a:xfrm>
            <a:off x="1359256" y="2532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35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2438248" y="2107039"/>
            <a:ext cx="841248" cy="1180882"/>
          </a:xfrm>
          <a:prstGeom prst="roundRect">
            <a:avLst>
              <a:gd fmla="val 4348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2438248" y="2532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3517240" y="2302982"/>
            <a:ext cx="841248" cy="788997"/>
          </a:xfrm>
          <a:prstGeom prst="roundRect">
            <a:avLst>
              <a:gd fmla="val 4636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"/>
          <p:cNvSpPr/>
          <p:nvPr/>
        </p:nvSpPr>
        <p:spPr>
          <a:xfrm>
            <a:off x="3517240" y="2532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4596232" y="2440142"/>
            <a:ext cx="841248" cy="514677"/>
          </a:xfrm>
          <a:prstGeom prst="roundRect">
            <a:avLst>
              <a:gd fmla="val 7107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"/>
          <p:cNvSpPr/>
          <p:nvPr/>
        </p:nvSpPr>
        <p:spPr>
          <a:xfrm>
            <a:off x="4596232" y="2532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5675224" y="2557707"/>
            <a:ext cx="841248" cy="279545"/>
          </a:xfrm>
          <a:prstGeom prst="roundRect">
            <a:avLst>
              <a:gd fmla="val 13084" name="adj"/>
            </a:avLst>
          </a:prstGeom>
          <a:solidFill>
            <a:srgbClr val="F9E2AF"/>
          </a:solidFill>
          <a:ln cap="flat" cmpd="sng" w="12700">
            <a:solidFill>
              <a:srgbClr val="F9E2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"/>
          <p:cNvSpPr/>
          <p:nvPr/>
        </p:nvSpPr>
        <p:spPr>
          <a:xfrm>
            <a:off x="5675224" y="2532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1E1E2E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6754216" y="2440142"/>
            <a:ext cx="841248" cy="514677"/>
          </a:xfrm>
          <a:prstGeom prst="roundRect">
            <a:avLst>
              <a:gd fmla="val 7107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"/>
          <p:cNvSpPr/>
          <p:nvPr/>
        </p:nvSpPr>
        <p:spPr>
          <a:xfrm>
            <a:off x="6754216" y="2532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7833208" y="2302982"/>
            <a:ext cx="841248" cy="788997"/>
          </a:xfrm>
          <a:prstGeom prst="roundRect">
            <a:avLst>
              <a:gd fmla="val 4636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7833208" y="2532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8912200" y="2107039"/>
            <a:ext cx="841248" cy="1180882"/>
          </a:xfrm>
          <a:prstGeom prst="roundRect">
            <a:avLst>
              <a:gd fmla="val 4348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8912200" y="2532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9991192" y="1911096"/>
            <a:ext cx="841248" cy="1572768"/>
          </a:xfrm>
          <a:prstGeom prst="roundRect">
            <a:avLst>
              <a:gd fmla="val 4348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"/>
          <p:cNvSpPr/>
          <p:nvPr/>
        </p:nvSpPr>
        <p:spPr>
          <a:xfrm>
            <a:off x="9991192" y="2532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35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1359256" y="3611880"/>
            <a:ext cx="4078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encoder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5400904" y="36118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200"/>
              <a:buFont typeface="Lato"/>
              <a:buNone/>
            </a:pPr>
            <a:r>
              <a:rPr b="1" i="0" lang="en-US" sz="12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latente 2D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6754216" y="3611880"/>
            <a:ext cx="4078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decoder (espejo)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640080" y="4343400"/>
            <a:ext cx="108813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/>
          <p:nvPr/>
        </p:nvSpPr>
        <p:spPr>
          <a:xfrm>
            <a:off x="777240" y="260604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777240" y="3310128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Búsqueda de Configuraciones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Progresión de configuraciones (1a2)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03 · Búsqueda de Configuraciones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13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{AF33410C-0C8B-4722-86A7-8C9C68F7DB91}</a:tableStyleId>
              </a:tblPr>
              <a:tblGrid>
                <a:gridCol w="502925"/>
                <a:gridCol w="2331725"/>
                <a:gridCol w="1783075"/>
                <a:gridCol w="2743200"/>
                <a:gridCol w="960125"/>
                <a:gridCol w="1005850"/>
                <a:gridCol w="9601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9E2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#</a:t>
                      </a:r>
                      <a:endParaRPr sz="11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9E2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Config</a:t>
                      </a:r>
                      <a:endParaRPr sz="11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9E2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Arquitectura</a:t>
                      </a:r>
                      <a:endParaRPr sz="11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9E2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init / optim</a:t>
                      </a:r>
                      <a:endParaRPr sz="11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9E2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best max_px</a:t>
                      </a:r>
                      <a:endParaRPr sz="11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9E2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éxito (≤1px)</a:t>
                      </a:r>
                      <a:endParaRPr sz="11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9E2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max_px medio</a:t>
                      </a:r>
                      <a:endParaRPr sz="11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47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01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base_shallow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35-20-2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xavier / adam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6E3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11/12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0.33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deep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35-25-15-8-2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xavier / adam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6E3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11/12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0.25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03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deeper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35-30-20-12-6-2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xavier / adam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6E3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11/12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0.58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04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deep_normal_init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35-25-15-8-2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normal / adam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6E3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11/12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0.17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05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deep_lbfgs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35-25-15-8-2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xavier / lbfgs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6E3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38BA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9/12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38BA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2.08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06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best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35-25-15-8-2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xavier / adam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6E3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6E3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19/20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6E3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0.15</a:t>
                      </a:r>
                      <a:endParaRPr sz="11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3B52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13"/>
          <p:cNvSpPr/>
          <p:nvPr/>
        </p:nvSpPr>
        <p:spPr>
          <a:xfrm>
            <a:off x="640080" y="5257800"/>
            <a:ext cx="10927080" cy="868680"/>
          </a:xfrm>
          <a:prstGeom prst="roundRect">
            <a:avLst>
              <a:gd fmla="val 6316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868680" y="5349240"/>
            <a:ext cx="10469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Fijada la coherencia (BCE + sigmoide),  </a:t>
            </a:r>
            <a:r>
              <a:rPr b="0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las 6 configuraciones reconstruyen </a:t>
            </a:r>
            <a:r>
              <a:rPr b="1" i="0" lang="en-US" sz="1300" u="none" cap="none" strike="noStrike">
                <a:solidFill>
                  <a:srgbClr val="A6E3A1"/>
                </a:solidFill>
                <a:latin typeface="Lato"/>
                <a:ea typeface="Lato"/>
                <a:cs typeface="Lato"/>
                <a:sym typeface="Lato"/>
              </a:rPr>
              <a:t>32/32 (0 px)</a:t>
            </a:r>
            <a:r>
              <a:rPr b="0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. El driver del resto es la robustez: Adam ≫ L-BFGS y profundidad moderada. La mejor (06) llega a 19/20 con Adam + coseno.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/>
          <p:nvPr/>
        </p:nvSpPr>
        <p:spPr>
          <a:xfrm>
            <a:off x="777240" y="260604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777240" y="3310128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Análisis de Hiperparámetros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Ablación sobre la base coherente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04 · Análisis de Hiperparámetros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Base: </a:t>
            </a:r>
            <a:r>
              <a:rPr b="0" i="0" lang="en-US" sz="14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bce / sigmoide / tanh / latente 2D, red 35-25-15-8-2. Variamos </a:t>
            </a:r>
            <a:r>
              <a:rPr b="1" i="0" lang="en-US" sz="14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un eje por vez</a:t>
            </a:r>
            <a:r>
              <a:rPr b="0" i="0" lang="en-US" sz="14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 para aislar qué mueve la robustez (max_px medio, 12 restarts).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pact_loss.png" id="177" name="Google Shape;1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524" y="2148840"/>
            <a:ext cx="5470071" cy="3063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mpact_activation.png" id="178" name="Google Shape;1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804" y="2148840"/>
            <a:ext cx="5470071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5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Optimizador: Adam (0.25) ≫ L-BFGS (2.08) en max_px medio, y 11/12 vs 9/12 restarts ≤1px.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Profundidad: hay un óptimo intermedio (deep, 0.25); más capas (deeper, 0.58) empeora. La init (xavier vs normal) casi no cambia.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Inicialización, optimizador y arquitectura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04 · Análisis de Hiperparámetros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pact_init.png" id="188" name="Google Shape;1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970532"/>
            <a:ext cx="3657600" cy="204825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457200" y="4224528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AC2DE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BAC2DE"/>
                </a:solidFill>
                <a:latin typeface="Lato"/>
                <a:ea typeface="Lato"/>
                <a:cs typeface="Lato"/>
                <a:sym typeface="Lato"/>
              </a:rPr>
              <a:t>Init escalada (xavier/he) ≪ init normal.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pact_optimizer.png" id="190" name="Google Shape;19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0248" y="1970532"/>
            <a:ext cx="3657600" cy="204825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/>
          <p:nvPr/>
        </p:nvSpPr>
        <p:spPr>
          <a:xfrm>
            <a:off x="4224528" y="4224528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AC2DE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BAC2DE"/>
                </a:solidFill>
                <a:latin typeface="Lato"/>
                <a:ea typeface="Lato"/>
                <a:cs typeface="Lato"/>
                <a:sym typeface="Lato"/>
              </a:rPr>
              <a:t>Adam ≫ L-BFGS en robustez (cae en mínimos locales).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pact_architecture.png" id="192" name="Google Shape;19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7576" y="1970532"/>
            <a:ext cx="3657600" cy="204825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/>
          <p:nvPr/>
        </p:nvSpPr>
        <p:spPr>
          <a:xfrm>
            <a:off x="7991856" y="4224528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AC2DE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BAC2DE"/>
                </a:solidFill>
                <a:latin typeface="Lato"/>
                <a:ea typeface="Lato"/>
                <a:cs typeface="Lato"/>
                <a:sym typeface="Lato"/>
              </a:rPr>
              <a:t>La arquitectura sola no arregla una config incoherente.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640080" y="5257800"/>
            <a:ext cx="10927080" cy="868680"/>
          </a:xfrm>
          <a:prstGeom prst="roundRect">
            <a:avLst>
              <a:gd fmla="val 6316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868680" y="5349240"/>
            <a:ext cx="10469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Conclusión del barrido:  </a:t>
            </a:r>
            <a:r>
              <a:rPr b="0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el error lo dominan la coherencia activación/pérdida/init y el optimizador (Adam), no la profundidad de la 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/>
          <p:nvPr/>
        </p:nvSpPr>
        <p:spPr>
          <a:xfrm>
            <a:off x="777240" y="260604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777240" y="3310128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Espacio Latente y Generación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Espacio latente 2D y reconstrucción (1a3)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05 · Espacio Latente y Generación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latent_scatter.png" id="212" name="Google Shape;2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00200"/>
            <a:ext cx="361188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/>
          <p:nvPr/>
        </p:nvSpPr>
        <p:spPr>
          <a:xfrm>
            <a:off x="4572000" y="1691640"/>
            <a:ext cx="6949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500"/>
              <a:buFont typeface="Lato"/>
              <a:buChar char="•"/>
            </a:pPr>
            <a:r>
              <a:rPr b="0" i="0" lang="en-US" sz="15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Cada uno de los 32 caracteres se proyecta a un punto (z1, z2) del latente.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CDD6F4"/>
              </a:buClr>
              <a:buSzPts val="1500"/>
              <a:buFont typeface="Lato"/>
              <a:buChar char="•"/>
            </a:pPr>
            <a:r>
              <a:rPr b="0" i="0" lang="en-US" sz="15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Caracteres con trazos parecidos quedan cerca; el código de 2D organiza el alfabeto.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572000" y="3383280"/>
            <a:ext cx="6903720" cy="914400"/>
          </a:xfrm>
          <a:prstGeom prst="roundRect">
            <a:avLst>
              <a:gd fmla="val 6000" name="adj"/>
            </a:avLst>
          </a:prstGeom>
          <a:solidFill>
            <a:srgbClr val="313244"/>
          </a:solidFill>
          <a:ln cap="flat" cmpd="sng" w="12700">
            <a:solidFill>
              <a:srgbClr val="A6E3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4800600" y="3456432"/>
            <a:ext cx="64922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600"/>
              <a:buFont typeface="Lato"/>
              <a:buNone/>
            </a:pPr>
            <a:r>
              <a:rPr b="1" i="0" lang="en-US" sz="16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Resultado: </a:t>
            </a:r>
            <a:r>
              <a:rPr b="1" i="0" lang="en-US" sz="1600" u="none" cap="none" strike="noStrike">
                <a:solidFill>
                  <a:srgbClr val="A6E3A1"/>
                </a:solidFill>
                <a:latin typeface="Lato"/>
                <a:ea typeface="Lato"/>
                <a:cs typeface="Lato"/>
                <a:sym typeface="Lato"/>
              </a:rPr>
              <a:t>32/32 patrones exactos  ·  max_pixel_error =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4572000" y="457200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DC8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Entrada (in) vs reconstrucción (out) — los 32 glifos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reconstruction.png" id="217" name="Google Shape;21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5322570"/>
            <a:ext cx="11064240" cy="9220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Generación de letras nuevas (1a4)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05 · Espacio Latente y Generación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latent_grid.png" id="226" name="Google Shape;2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26" y="1600200"/>
            <a:ext cx="3802828" cy="46177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/>
          <p:nvPr/>
        </p:nvSpPr>
        <p:spPr>
          <a:xfrm>
            <a:off x="4617720" y="1627632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DC8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Recorrido del latente 2D → decode → umbral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nterp.png" id="228" name="Google Shape;2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924050"/>
            <a:ext cx="7040880" cy="159258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/>
          <p:nvPr/>
        </p:nvSpPr>
        <p:spPr>
          <a:xfrm>
            <a:off x="4572000" y="3657600"/>
            <a:ext cx="6995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Puntos del latente que no corresponden a ninguna letra de entrenamiento decodifican a glifos plausibles.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CDD6F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La grilla recorre el espacio latente: transición suave entre formas → el AE aprende un manifold continuo.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CDD6F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La interpolación 'd' → 'y' atraviesa varias "letras nuevas" intermedias (decode del punto medio entre dos códigos).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777240" y="260604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777240" y="3310128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Denoising Autoencoder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Denoising AE: elección de arquitectura (1b1)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06 · Denoising Autoencoder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640080" y="1783080"/>
            <a:ext cx="64008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500"/>
              <a:buFont typeface="Lato"/>
              <a:buChar char="•"/>
            </a:pPr>
            <a:r>
              <a:rPr b="0" i="0" lang="en-US" sz="15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Tarea: entrenar entrada ruidosa → patrón limpio (ruido sal-y-pimienta sobre los 35 píxeles).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DD6F4"/>
              </a:buClr>
              <a:buSzPts val="1500"/>
              <a:buFont typeface="Lato"/>
              <a:buChar char="•"/>
            </a:pPr>
            <a:r>
              <a:rPr b="0" i="0" lang="en-US" sz="15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El cuello de 2D —ideal para visualizar en 1a— es demasiado estrecho para denoising: el código no logra separar los 32 patrones bajo ruido.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DD6F4"/>
              </a:buClr>
              <a:buSzPts val="1500"/>
              <a:buFont typeface="Lato"/>
              <a:buChar char="•"/>
            </a:pPr>
            <a:r>
              <a:rPr b="0" i="0" lang="en-US" sz="15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Arquitectura conveniente: relajamos el cuello a latente 10 (35-25-10). Más capacidad de código → mejor poder de limpieza.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DD6F4"/>
              </a:buClr>
              <a:buSzPts val="1500"/>
              <a:buFont typeface="Lato"/>
              <a:buChar char="•"/>
            </a:pPr>
            <a:r>
              <a:rPr b="0" i="0" lang="en-US" sz="15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Resto del setup igual: tanh / sigmoid, pérdida BCE, optimizador Adam.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7315200" y="1920240"/>
            <a:ext cx="4206240" cy="2880360"/>
          </a:xfrm>
          <a:prstGeom prst="roundRect">
            <a:avLst>
              <a:gd fmla="val 2222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7498080" y="2057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350"/>
              <a:buFont typeface="Lato"/>
              <a:buNone/>
            </a:pPr>
            <a:r>
              <a:rPr b="1" i="0" lang="en-US" sz="13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Cuello del latente vs denoising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7498080" y="23957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DC8"/>
              </a:buClr>
              <a:buSzPts val="1050"/>
              <a:buFont typeface="Lato"/>
              <a:buNone/>
            </a:pPr>
            <a:r>
              <a:rPr b="0" i="0" lang="en-US" sz="105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error medio de píxeles a 5% de ruido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7498080" y="2788920"/>
            <a:ext cx="3840480" cy="777240"/>
          </a:xfrm>
          <a:prstGeom prst="roundRect">
            <a:avLst>
              <a:gd fmla="val 5882" name="adj"/>
            </a:avLst>
          </a:prstGeom>
          <a:solidFill>
            <a:srgbClr val="4547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7635240" y="27889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latente 2D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9601200" y="278892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8BA8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F38BA8"/>
                </a:solidFill>
                <a:latin typeface="Lato"/>
                <a:ea typeface="Lato"/>
                <a:cs typeface="Lato"/>
                <a:sym typeface="Lato"/>
              </a:rPr>
              <a:t>6.9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7498080" y="3703320"/>
            <a:ext cx="3840480" cy="777240"/>
          </a:xfrm>
          <a:prstGeom prst="roundRect">
            <a:avLst>
              <a:gd fmla="val 5882" name="adj"/>
            </a:avLst>
          </a:prstGeom>
          <a:solidFill>
            <a:srgbClr val="4547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7635240" y="37033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latente 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9601200" y="370332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E3A1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A6E3A1"/>
                </a:solidFill>
                <a:latin typeface="Lato"/>
                <a:ea typeface="Lato"/>
                <a:cs typeface="Lato"/>
                <a:sym typeface="Lato"/>
              </a:rPr>
              <a:t>2.5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Denoising: capacidad vs nivel de ruido (1b2)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06 · Denoising Autoencoder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denoising.png"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61661"/>
            <a:ext cx="6492240" cy="3043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/>
          <p:nvPr/>
        </p:nvSpPr>
        <p:spPr>
          <a:xfrm>
            <a:off x="548640" y="498348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DC8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ruidoso → reconstruido → limpio  (ruido sal-y-pimienta 15%)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6" name="Google Shape;266;p22"/>
          <p:cNvGraphicFramePr/>
          <p:nvPr/>
        </p:nvGraphicFramePr>
        <p:xfrm>
          <a:off x="736092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{AF33410C-0C8B-4722-86A7-8C9C68F7DB91}</a:tableStyleId>
              </a:tblPr>
              <a:tblGrid>
                <a:gridCol w="1417325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E2AF"/>
                        </a:buClr>
                        <a:buSzPts val="1300"/>
                        <a:buFont typeface="Lato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9E2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Ruido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E2AF"/>
                        </a:buClr>
                        <a:buSzPts val="1300"/>
                        <a:buFont typeface="Lato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9E2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max px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E2AF"/>
                        </a:buClr>
                        <a:buSzPts val="1300"/>
                        <a:buFont typeface="Lato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9E2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 px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475A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0.05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10.2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2.54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244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0.10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11.0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3.63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B3D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0.20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15.8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5.06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244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0.30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17.4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DD6F4"/>
                        </a:buClr>
                        <a:buSzPts val="1300"/>
                        <a:buFont typeface="Lato"/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6.51</a:t>
                      </a:r>
                      <a:endParaRPr sz="13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B3D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22"/>
          <p:cNvSpPr/>
          <p:nvPr/>
        </p:nvSpPr>
        <p:spPr>
          <a:xfrm>
            <a:off x="7360920" y="4160520"/>
            <a:ext cx="4160520" cy="1417320"/>
          </a:xfrm>
          <a:prstGeom prst="roundRect">
            <a:avLst>
              <a:gd fmla="val 4516" name="adj"/>
            </a:avLst>
          </a:prstGeom>
          <a:solidFill>
            <a:srgbClr val="313244"/>
          </a:solidFill>
          <a:ln cap="flat" cmpd="sng" w="12700">
            <a:solidFill>
              <a:srgbClr val="A6E3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7543800" y="4251960"/>
            <a:ext cx="3794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6E3A1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A6E3A1"/>
                </a:solidFill>
                <a:latin typeface="Lato"/>
                <a:ea typeface="Lato"/>
                <a:cs typeface="Lato"/>
                <a:sym typeface="Lato"/>
              </a:rPr>
              <a:t>Limpia bien a ruido bajo/moderado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y el error crece de forma gradual con el nivel — degradación controlada, sin colapso.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/>
          <p:nvPr/>
        </p:nvSpPr>
        <p:spPr>
          <a:xfrm>
            <a:off x="777240" y="260604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07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777240" y="3310128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4000"/>
              <a:buFont typeface="Lato"/>
              <a:buNone/>
            </a:pPr>
            <a:r>
              <a:rPr b="1" i="0" lang="en-US" sz="40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Conclusiones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/>
          <p:nvPr/>
        </p:nvSpPr>
        <p:spPr>
          <a:xfrm>
            <a:off x="566928" y="365760"/>
            <a:ext cx="9784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Conclusiones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603504" y="10972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07 · Conclusiones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640080" y="1783080"/>
            <a:ext cx="5440680" cy="2057400"/>
          </a:xfrm>
          <a:prstGeom prst="roundRect">
            <a:avLst>
              <a:gd fmla="val 2222" name="adj"/>
            </a:avLst>
          </a:prstGeom>
          <a:solidFill>
            <a:srgbClr val="313244"/>
          </a:solidFill>
          <a:ln cap="flat" cmpd="sng" w="12700">
            <a:solidFill>
              <a:srgbClr val="F9E2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640080" y="1783080"/>
            <a:ext cx="82296" cy="20574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914400" y="1947672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1700"/>
              <a:buFont typeface="Lato"/>
              <a:buNone/>
            </a:pPr>
            <a:r>
              <a:rPr b="1" i="0" lang="en-US" sz="17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Coherencia &gt; profundidad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914400" y="2441448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Lato"/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tanh/sigmoid + bce + init escalada bastan para reconstruir 32/32 en un latente de 2D, incluso con redes chatas.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6400800" y="1783080"/>
            <a:ext cx="5440680" cy="2057400"/>
          </a:xfrm>
          <a:prstGeom prst="roundRect">
            <a:avLst>
              <a:gd fmla="val 2222" name="adj"/>
            </a:avLst>
          </a:prstGeom>
          <a:solidFill>
            <a:srgbClr val="313244"/>
          </a:solidFill>
          <a:ln cap="flat" cmpd="sng" w="12700">
            <a:solidFill>
              <a:srgbClr val="89B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6400800" y="1783080"/>
            <a:ext cx="82296" cy="2057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6675120" y="1947672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B4FA"/>
              </a:buClr>
              <a:buSzPts val="1700"/>
              <a:buFont typeface="Lato"/>
              <a:buNone/>
            </a:pPr>
            <a:r>
              <a:rPr b="1" i="0" lang="en-US" sz="1700" u="none" cap="none" strike="noStrike">
                <a:solidFill>
                  <a:srgbClr val="89B4FA"/>
                </a:solidFill>
                <a:latin typeface="Lato"/>
                <a:ea typeface="Lato"/>
                <a:cs typeface="Lato"/>
                <a:sym typeface="Lato"/>
              </a:rPr>
              <a:t>Optimizador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6675120" y="2441448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Lato"/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Adam es mucho más robusto que L-BFGS; el multi-restart garantiza alcanzar el 32/32.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640080" y="4160520"/>
            <a:ext cx="5440680" cy="2057400"/>
          </a:xfrm>
          <a:prstGeom prst="roundRect">
            <a:avLst>
              <a:gd fmla="val 2222" name="adj"/>
            </a:avLst>
          </a:prstGeom>
          <a:solidFill>
            <a:srgbClr val="313244"/>
          </a:solidFill>
          <a:ln cap="flat" cmpd="sng" w="12700">
            <a:solidFill>
              <a:srgbClr val="A6E3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640080" y="4160520"/>
            <a:ext cx="82296" cy="20574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914400" y="4325112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E3A1"/>
              </a:buClr>
              <a:buSzPts val="1700"/>
              <a:buFont typeface="Lato"/>
              <a:buNone/>
            </a:pPr>
            <a:r>
              <a:rPr b="1" i="0" lang="en-US" sz="1700" u="none" cap="none" strike="noStrike">
                <a:solidFill>
                  <a:srgbClr val="A6E3A1"/>
                </a:solidFill>
                <a:latin typeface="Lato"/>
                <a:ea typeface="Lato"/>
                <a:cs typeface="Lato"/>
                <a:sym typeface="Lato"/>
              </a:rPr>
              <a:t>Latente 2D y generación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914400" y="4818888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Lato"/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Comprime 35→2 y reconstruye exacto; el manifold continuo permite generar letras nuevas por interpolación.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6400800" y="4160520"/>
            <a:ext cx="5440680" cy="2057400"/>
          </a:xfrm>
          <a:prstGeom prst="roundRect">
            <a:avLst>
              <a:gd fmla="val 2222" name="adj"/>
            </a:avLst>
          </a:prstGeom>
          <a:solidFill>
            <a:srgbClr val="313244"/>
          </a:solidFill>
          <a:ln cap="flat" cmpd="sng" w="12700">
            <a:solidFill>
              <a:srgbClr val="F38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4"/>
          <p:cNvSpPr/>
          <p:nvPr/>
        </p:nvSpPr>
        <p:spPr>
          <a:xfrm>
            <a:off x="6400800" y="4160520"/>
            <a:ext cx="82296" cy="20574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6675120" y="4325112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8BA8"/>
              </a:buClr>
              <a:buSzPts val="1700"/>
              <a:buFont typeface="Lato"/>
              <a:buNone/>
            </a:pPr>
            <a:r>
              <a:rPr b="1" i="0" lang="en-US" sz="1700" u="none" cap="none" strike="noStrike">
                <a:solidFill>
                  <a:srgbClr val="F38BA8"/>
                </a:solidFill>
                <a:latin typeface="Lato"/>
                <a:ea typeface="Lato"/>
                <a:cs typeface="Lato"/>
                <a:sym typeface="Lato"/>
              </a:rPr>
              <a:t>Denoising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6675120" y="4818888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Lato"/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El cuello de 2D no alcanza para limpiar ruido; relajarlo a latente 10 recupera el poder de denoising.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5000"/>
              <a:buFont typeface="Lato"/>
              <a:buNone/>
            </a:pPr>
            <a:r>
              <a:rPr b="1" i="0" lang="en-US" sz="5000" u="none" cap="none" strike="noStrike">
                <a:solidFill>
                  <a:srgbClr val="CDD6F4"/>
                </a:solidFill>
                <a:latin typeface="Lato"/>
                <a:ea typeface="Lato"/>
                <a:cs typeface="Lato"/>
                <a:sym typeface="Lato"/>
              </a:rPr>
              <a:t>Muchas Gracias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804672" y="36118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2AF"/>
              </a:buClr>
              <a:buSzPts val="2800"/>
              <a:buFont typeface="Lato"/>
              <a:buNone/>
            </a:pPr>
            <a:r>
              <a:rPr b="1" i="0" lang="en-US" sz="2800" u="none" cap="none" strike="noStrike">
                <a:solidFill>
                  <a:srgbClr val="F9E2AF"/>
                </a:solidFill>
                <a:latin typeface="Lato"/>
                <a:ea typeface="Lato"/>
                <a:cs typeface="Lato"/>
                <a:sym typeface="Lato"/>
              </a:rPr>
              <a:t>¿Preguntas?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 txBox="1"/>
          <p:nvPr>
            <p:ph idx="4294967295" type="sldNum"/>
          </p:nvPr>
        </p:nvSpPr>
        <p:spPr>
          <a:xfrm>
            <a:off x="1147572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6ADC8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A6ADC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